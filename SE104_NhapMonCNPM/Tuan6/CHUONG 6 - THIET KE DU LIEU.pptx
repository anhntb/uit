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60" r:id="rId4"/>
    <p:sldId id="294" r:id="rId5"/>
    <p:sldId id="289" r:id="rId6"/>
    <p:sldId id="295" r:id="rId7"/>
    <p:sldId id="290" r:id="rId8"/>
    <p:sldId id="291" r:id="rId9"/>
    <p:sldId id="292" r:id="rId10"/>
    <p:sldId id="293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287" r:id="rId27"/>
    <p:sldId id="288" r:id="rId2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FF"/>
    <a:srgbClr val="00F7FF"/>
    <a:srgbClr val="00C6FF"/>
    <a:srgbClr val="376DB5"/>
    <a:srgbClr val="1CB5E0"/>
    <a:srgbClr val="000046"/>
    <a:srgbClr val="0A4671"/>
    <a:srgbClr val="114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1"/>
    <p:restoredTop sz="94694"/>
  </p:normalViewPr>
  <p:slideViewPr>
    <p:cSldViewPr snapToGrid="0">
      <p:cViewPr varScale="1">
        <p:scale>
          <a:sx n="75" d="100"/>
          <a:sy n="75" d="100"/>
        </p:scale>
        <p:origin x="132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10/18/2024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5400000" scaled="1"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October 18,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233824"/>
            <a:ext cx="10579654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18, 2024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18,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October 18, 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1438" y="2208158"/>
            <a:ext cx="10605105" cy="831297"/>
          </a:xfrm>
        </p:spPr>
        <p:txBody>
          <a:bodyPr>
            <a:no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NHẬP MÔN CÔNG NGHỆ PHẦN MỀM</a:t>
            </a:r>
            <a:endParaRPr lang="en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991" y="3039455"/>
            <a:ext cx="10438019" cy="1172576"/>
          </a:xfrm>
        </p:spPr>
        <p:txBody>
          <a:bodyPr/>
          <a:lstStyle/>
          <a:p>
            <a:r>
              <a:rPr lang="en-US" sz="3200"/>
              <a:t>CHƯƠNG 6: THIẾT KẾ DỮ LIỆU</a:t>
            </a:r>
            <a:endParaRPr lang="en-VN" sz="320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370988F-97E9-CCA0-5A6A-B3DAD117D9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25815" y="4651571"/>
            <a:ext cx="4340368" cy="1080913"/>
          </a:xfrm>
        </p:spPr>
        <p:txBody>
          <a:bodyPr>
            <a:normAutofit/>
          </a:bodyPr>
          <a:lstStyle/>
          <a:p>
            <a:pPr algn="l"/>
            <a:r>
              <a:rPr lang="en-US" altLang="en-US" sz="2000" b="1">
                <a:latin typeface="Times New Roman" panose="02020603050405020304" pitchFamily="18" charset="0"/>
              </a:rPr>
              <a:t>Giảng viên: TS. Đỗ Thị Thanh Tuyền</a:t>
            </a:r>
          </a:p>
          <a:p>
            <a:pPr algn="l"/>
            <a:r>
              <a:rPr lang="en-US" altLang="en-US" sz="2000" b="1">
                <a:latin typeface="Times New Roman" panose="02020603050405020304" pitchFamily="18" charset="0"/>
              </a:rPr>
              <a:t>        Email:</a:t>
            </a:r>
            <a:r>
              <a:rPr lang="en-US" altLang="en-US" sz="2000">
                <a:latin typeface="Times New Roman" panose="02020603050405020304" pitchFamily="18" charset="0"/>
              </a:rPr>
              <a:t> tuyendtt@uit.edu.vn</a:t>
            </a:r>
            <a:endParaRPr lang="en-VN" sz="200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4B19BD-2C3E-1688-12EB-FB28C53E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6F277-52C0-C5B7-E431-D7623CF3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BF388-B206-ABCF-6602-9A1AA70C90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56560" y="1324840"/>
            <a:ext cx="7890690" cy="4172711"/>
          </a:xfrm>
        </p:spPr>
        <p:txBody>
          <a:bodyPr>
            <a:noAutofit/>
          </a:bodyPr>
          <a:lstStyle/>
          <a:p>
            <a:pPr marL="1260475" indent="-803275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romanUcPeriod"/>
            </a:pPr>
            <a:r>
              <a:rPr lang="en-US" altLang="en-US" sz="3200" b="1">
                <a:latin typeface="Times New Roman" panose="02020603050405020304" pitchFamily="18" charset="0"/>
              </a:rPr>
              <a:t>Thiết kế dữ liệu</a:t>
            </a:r>
          </a:p>
          <a:p>
            <a:pPr marL="1260475" indent="-803275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romanUcPeriod"/>
            </a:pPr>
            <a:r>
              <a:rPr lang="en-US" altLang="en-US" sz="3200" b="1">
                <a:latin typeface="Times New Roman" panose="02020603050405020304" pitchFamily="18" charset="0"/>
              </a:rPr>
              <a:t>Sơ đồ Logic</a:t>
            </a:r>
          </a:p>
          <a:p>
            <a:pPr marL="1260475" indent="-803275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romanUcPeriod"/>
            </a:pPr>
            <a:r>
              <a:rPr lang="en-US" altLang="en-US" sz="3200" b="1">
                <a:latin typeface="Times New Roman" panose="02020603050405020304" pitchFamily="18" charset="0"/>
              </a:rPr>
              <a:t>Xác định khóa chính</a:t>
            </a:r>
          </a:p>
          <a:p>
            <a:pPr marL="1260475" indent="-803275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romanUcPeriod"/>
            </a:pPr>
            <a:r>
              <a:rPr lang="en-US" altLang="en-US" sz="3200" b="1">
                <a:latin typeface="Times New Roman" panose="02020603050405020304" pitchFamily="18" charset="0"/>
              </a:rPr>
              <a:t>Các kiểu mã hóa</a:t>
            </a:r>
          </a:p>
          <a:p>
            <a:pPr marL="1260475" indent="-803275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romanUcPeriod"/>
            </a:pPr>
            <a:r>
              <a:rPr lang="en-US" altLang="en-US" sz="3200" b="1">
                <a:latin typeface="Times New Roman" panose="02020603050405020304" pitchFamily="18" charset="0"/>
              </a:rPr>
              <a:t>Bảng THAMSO</a:t>
            </a:r>
          </a:p>
          <a:p>
            <a:pPr marL="1260475" indent="-803275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romanUcPeriod"/>
            </a:pPr>
            <a:r>
              <a:rPr lang="en-US" altLang="en-US" sz="3200" b="1">
                <a:latin typeface="Times New Roman" panose="02020603050405020304" pitchFamily="18" charset="0"/>
              </a:rPr>
              <a:t>Thuật toán thiết kế dữ liệu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7A9CB-61DE-8582-6B34-A964FAC4C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20772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/>
              <a:t>I. </a:t>
            </a:r>
            <a:r>
              <a:rPr lang="en-US" altLang="en-US" sz="4800">
                <a:latin typeface="Times New Roman" panose="02020603050405020304" pitchFamily="18" charset="0"/>
              </a:rPr>
              <a:t>Thiết kế dữ liệu</a:t>
            </a:r>
            <a:endParaRPr lang="en-V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98" y="1233824"/>
            <a:ext cx="10579654" cy="4943139"/>
          </a:xfrm>
        </p:spPr>
        <p:txBody>
          <a:bodyPr>
            <a:noAutofit/>
          </a:bodyPr>
          <a:lstStyle/>
          <a:p>
            <a:pPr marL="346075" indent="-34607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6075" indent="-34607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3413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/>
              <a:t>I. </a:t>
            </a:r>
            <a:r>
              <a:rPr lang="en-US" altLang="en-US" sz="4800">
                <a:latin typeface="Times New Roman" panose="02020603050405020304" pitchFamily="18" charset="0"/>
              </a:rPr>
              <a:t>Thiết kế dữ liệu (tt)</a:t>
            </a:r>
            <a:endParaRPr lang="en-V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98" y="1233824"/>
            <a:ext cx="10579654" cy="49431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Khi thiết kế dữ liệu, ta quan tâm đến ba vấn đề sau:</a:t>
            </a:r>
            <a:endParaRPr lang="en-US" altLang="en-US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với tính đúng đắn</a:t>
            </a:r>
          </a:p>
          <a:p>
            <a:pPr marL="971550" lvl="1" indent="-51435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với tính tiến hóa</a:t>
            </a:r>
          </a:p>
          <a:p>
            <a:pPr marL="971550" lvl="1" indent="-51435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với yêu cầu hiệu quả về thời gian truy xuất và dung lượng lưu trữ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37309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/>
              <a:t>II. </a:t>
            </a:r>
            <a:r>
              <a:rPr lang="en-US" altLang="en-US" sz="4800">
                <a:latin typeface="Times New Roman" panose="02020603050405020304" pitchFamily="18" charset="0"/>
              </a:rPr>
              <a:t>Sơ đồ Logic</a:t>
            </a:r>
            <a:endParaRPr lang="en-V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5" y="1423395"/>
            <a:ext cx="10579654" cy="49431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Bao gồm các bảng dữ liệu và mối quan hệ giữa chúng.</a:t>
            </a:r>
          </a:p>
          <a:p>
            <a:pPr marL="0" indent="0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  <a:defRPr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ký hiệu: 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F148314E-45B7-3B2B-29DA-6C6FCE971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429000"/>
            <a:ext cx="1524000" cy="3937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chemeClr val="accent1"/>
                </a:solidFill>
              </a:rPr>
              <a:t>Tên Table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B66E9EAB-90C0-D7AC-27EE-7B84DE9A2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4495800"/>
            <a:ext cx="1524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74492296-B5B5-8CAF-6960-8D2295342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422573"/>
            <a:ext cx="3124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rgbClr val="0072FF"/>
                </a:solidFill>
              </a:rPr>
              <a:t>Bảng dữ liệu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C6A03DB-7A24-165C-2C85-47E272FB1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640" y="4283075"/>
            <a:ext cx="3124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rgbClr val="0072FF"/>
                </a:solidFill>
              </a:rPr>
              <a:t>Liên kết</a:t>
            </a:r>
          </a:p>
        </p:txBody>
      </p:sp>
    </p:spTree>
    <p:extLst>
      <p:ext uri="{BB962C8B-B14F-4D97-AF65-F5344CB8AC3E}">
        <p14:creationId xmlns:p14="http://schemas.microsoft.com/office/powerpoint/2010/main" val="151719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/>
              <a:t>II. </a:t>
            </a:r>
            <a:r>
              <a:rPr lang="en-US" altLang="en-US" sz="4800">
                <a:latin typeface="Times New Roman" panose="02020603050405020304" pitchFamily="18" charset="0"/>
              </a:rPr>
              <a:t>Sơ đồ Logic (tt)</a:t>
            </a:r>
            <a:endParaRPr lang="en-V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5" y="2464421"/>
            <a:ext cx="10579654" cy="3824056"/>
          </a:xfrm>
        </p:spPr>
        <p:txBody>
          <a:bodyPr>
            <a:noAutofit/>
          </a:bodyPr>
          <a:lstStyle/>
          <a:p>
            <a:pPr marL="346075" indent="-346075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Một phần tử của bảng A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duy nhất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một phần tử của bảng B</a:t>
            </a:r>
          </a:p>
          <a:p>
            <a:pPr marL="346075" indent="-346075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Ngược lại, một phần tử của bảng B có thể tương ứng với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hoặc nhiều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phần tử của bảng A</a:t>
            </a:r>
          </a:p>
          <a:p>
            <a:pPr marL="346075" indent="-346075"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Mối quan hệ giữa A và B là quan hệ 1-n </a:t>
            </a:r>
          </a:p>
          <a:p>
            <a:pPr marL="346075" indent="-346075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Khi đó,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bảng A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sẽ </a:t>
            </a:r>
            <a:r>
              <a:rPr lang="en-US" altLang="en-US" u="sng">
                <a:latin typeface="Times New Roman" panose="02020603050405020304" pitchFamily="18" charset="0"/>
                <a:cs typeface="Times New Roman" panose="02020603050405020304" pitchFamily="18" charset="0"/>
              </a:rPr>
              <a:t>chứa khóa chính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của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bảng B</a:t>
            </a:r>
          </a:p>
          <a:p>
            <a:pPr marL="0" indent="0" algn="just">
              <a:lnSpc>
                <a:spcPct val="120000"/>
              </a:lnSpc>
              <a:spcAft>
                <a:spcPct val="15000"/>
              </a:spcAft>
              <a:buClr>
                <a:schemeClr val="accent1"/>
              </a:buClr>
              <a:buNone/>
              <a:defRPr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D49E87-386F-42BA-5F40-1F1E535EA393}"/>
              </a:ext>
            </a:extLst>
          </p:cNvPr>
          <p:cNvGrpSpPr/>
          <p:nvPr/>
        </p:nvGrpSpPr>
        <p:grpSpPr>
          <a:xfrm>
            <a:off x="2990434" y="1547568"/>
            <a:ext cx="4191000" cy="524108"/>
            <a:chOff x="1905000" y="2320925"/>
            <a:chExt cx="2895600" cy="393700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E59CEB68-8F2F-103B-DE00-1F505C9BB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2320925"/>
              <a:ext cx="990600" cy="393700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83DC4F6E-66D1-CB2F-8116-840676375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2320925"/>
              <a:ext cx="990600" cy="393700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solidFill>
                    <a:schemeClr val="accent1"/>
                  </a:solidFill>
                </a:rPr>
                <a:t>B</a:t>
              </a: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8F210518-B10F-2E57-E611-7F6E69376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2506663"/>
              <a:ext cx="9144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9462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5" y="1423395"/>
            <a:ext cx="10579654" cy="4943139"/>
          </a:xfrm>
        </p:spPr>
        <p:txBody>
          <a:bodyPr>
            <a:noAutofit/>
          </a:bodyPr>
          <a:lstStyle/>
          <a:p>
            <a:pPr marL="346075" indent="-346075"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Nếu quan hệ giữa A và B là quan hệ 1-1:</a:t>
            </a:r>
          </a:p>
          <a:p>
            <a:pPr marL="346075" indent="0" algn="just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ộp hai table A và B lại thành </a:t>
            </a:r>
            <a:r>
              <a:rPr lang="en-US" altLang="en-US" sz="28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table duy nhất chứa tất cả thuộc tính của A và B.</a:t>
            </a:r>
          </a:p>
          <a:p>
            <a:pPr marL="0" indent="346075" algn="just"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ý: 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 hệ 1-n không làm được việc này.</a:t>
            </a:r>
          </a:p>
          <a:p>
            <a:pPr marL="346075" indent="-346075"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Nếu quan hệ giữa A và B là quan hệ n-n:</a:t>
            </a:r>
          </a:p>
          <a:p>
            <a:pPr marL="346075" indent="0" algn="just"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Tách quan hệ này thành 2 quan hệ 1-n bằng cách thêm vào </a:t>
            </a:r>
            <a:r>
              <a:rPr lang="en-US" altLang="en-US" sz="28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table trung gian chứa khóa chính của A và B.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F33F4D-220F-F392-F147-4275EB69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223838"/>
            <a:ext cx="10579100" cy="785812"/>
          </a:xfrm>
        </p:spPr>
        <p:txBody>
          <a:bodyPr>
            <a:noAutofit/>
          </a:bodyPr>
          <a:lstStyle/>
          <a:p>
            <a:r>
              <a:rPr lang="en-US" sz="4800"/>
              <a:t>II. </a:t>
            </a:r>
            <a:r>
              <a:rPr lang="en-US" altLang="en-US" sz="4800">
                <a:latin typeface="Times New Roman" panose="02020603050405020304" pitchFamily="18" charset="0"/>
              </a:rPr>
              <a:t>Sơ đồ Logic (tt)</a:t>
            </a:r>
            <a:endParaRPr lang="en-VN" sz="4800"/>
          </a:p>
        </p:txBody>
      </p:sp>
    </p:spTree>
    <p:extLst>
      <p:ext uri="{BB962C8B-B14F-4D97-AF65-F5344CB8AC3E}">
        <p14:creationId xmlns:p14="http://schemas.microsoft.com/office/powerpoint/2010/main" val="116975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4800">
                <a:latin typeface="Times New Roman" panose="02020603050405020304" pitchFamily="18" charset="0"/>
              </a:rPr>
              <a:t>Ví dụ Quan hệ n-n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8</a:t>
            </a:fld>
            <a:endParaRPr lang="en-V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DEDCA8-1E8A-5C4D-6E5C-4E04EF58CF20}"/>
              </a:ext>
            </a:extLst>
          </p:cNvPr>
          <p:cNvGrpSpPr/>
          <p:nvPr/>
        </p:nvGrpSpPr>
        <p:grpSpPr>
          <a:xfrm>
            <a:off x="1295342" y="1693127"/>
            <a:ext cx="9601316" cy="762000"/>
            <a:chOff x="490538" y="1905000"/>
            <a:chExt cx="8121650" cy="7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6A0FE0-3CA5-596F-EDE1-CF91E77CE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065338"/>
              <a:ext cx="2557462" cy="52546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3200" b="1"/>
                <a:t>  SINH VIÊN 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75FEED-DE06-DB4D-C00B-F98C95451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057400"/>
              <a:ext cx="2363788" cy="52546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3200" b="1"/>
                <a:t>  MONHOC  </a:t>
              </a:r>
            </a:p>
          </p:txBody>
        </p:sp>
        <p:sp>
          <p:nvSpPr>
            <p:cNvPr id="11" name="Line 19">
              <a:extLst>
                <a:ext uri="{FF2B5EF4-FFF2-40B4-BE49-F238E27FC236}">
                  <a16:creationId xmlns:a16="http://schemas.microsoft.com/office/drawing/2014/main" id="{E1776FC5-BC04-FD4C-F7F5-B14B6415C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2286000"/>
              <a:ext cx="3200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cxnSp>
          <p:nvCxnSpPr>
            <p:cNvPr id="12" name="Straight Connector 2">
              <a:extLst>
                <a:ext uri="{FF2B5EF4-FFF2-40B4-BE49-F238E27FC236}">
                  <a16:creationId xmlns:a16="http://schemas.microsoft.com/office/drawing/2014/main" id="{6EA3DB05-1478-D255-84A3-09B0BA56C3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267200" y="1905000"/>
              <a:ext cx="762000" cy="76200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Connector 4">
              <a:extLst>
                <a:ext uri="{FF2B5EF4-FFF2-40B4-BE49-F238E27FC236}">
                  <a16:creationId xmlns:a16="http://schemas.microsoft.com/office/drawing/2014/main" id="{D1164066-3B1E-BEEA-03B3-DD631850DD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67200" y="1905000"/>
              <a:ext cx="762000" cy="76200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" name="Rectangle 17">
            <a:extLst>
              <a:ext uri="{FF2B5EF4-FFF2-40B4-BE49-F238E27FC236}">
                <a16:creationId xmlns:a16="http://schemas.microsoft.com/office/drawing/2014/main" id="{81EBFBAA-8258-4B6A-0273-B91E207C8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5735" y="2944785"/>
            <a:ext cx="86868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696913" indent="-349250"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06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2" algn="just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en-US" sz="2800" b="1" i="1"/>
              <a:t>Chuyển thành:</a:t>
            </a:r>
            <a:endParaRPr lang="en-US" altLang="en-US" sz="2800" b="1" i="1" u="sng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D2799E7-EDE9-46AB-F4DE-94FCAB58CB5A}"/>
              </a:ext>
            </a:extLst>
          </p:cNvPr>
          <p:cNvGrpSpPr/>
          <p:nvPr/>
        </p:nvGrpSpPr>
        <p:grpSpPr>
          <a:xfrm>
            <a:off x="950208" y="3958318"/>
            <a:ext cx="10227527" cy="1531937"/>
            <a:chOff x="76200" y="4335463"/>
            <a:chExt cx="8991600" cy="1531937"/>
          </a:xfrm>
        </p:grpSpPr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F21D0F46-94D2-6777-B43C-DF68F379C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075" y="5375275"/>
              <a:ext cx="3517900" cy="49212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3200" b="1"/>
                <a:t>  PHIEUDANGKY  </a:t>
              </a: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9F9ECB5B-F685-E360-5C5E-7E68CE0DE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4343400"/>
              <a:ext cx="2455863" cy="52546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3200" b="1"/>
                <a:t>  SINHVIEN  </a:t>
              </a:r>
            </a:p>
          </p:txBody>
        </p:sp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93FC2868-F998-9039-7335-4FECADC06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4013" y="4335463"/>
              <a:ext cx="2363787" cy="52546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3200" b="1"/>
                <a:t>  MONHOC  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D4D66E75-A0DD-86CE-5D74-9F49BE24F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03975" y="4868863"/>
              <a:ext cx="1597025" cy="611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05A54CDA-1BAC-8618-048E-A836A8B8E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43000" y="4868863"/>
              <a:ext cx="1743075" cy="6270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339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4800">
                <a:latin typeface="Times New Roman" panose="02020603050405020304" pitchFamily="18" charset="0"/>
              </a:rPr>
              <a:t>Ví dụ Quan hệ n-n </a:t>
            </a:r>
            <a:r>
              <a:rPr lang="en-US" sz="4800"/>
              <a:t>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9</a:t>
            </a:fld>
            <a:endParaRPr lang="en-VN" dirty="0"/>
          </a:p>
        </p:txBody>
      </p:sp>
      <p:graphicFrame>
        <p:nvGraphicFramePr>
          <p:cNvPr id="6" name="Group 72">
            <a:extLst>
              <a:ext uri="{FF2B5EF4-FFF2-40B4-BE49-F238E27FC236}">
                <a16:creationId xmlns:a16="http://schemas.microsoft.com/office/drawing/2014/main" id="{7F4A4C56-4281-4B57-1D77-3A07E89E5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680952"/>
              </p:ext>
            </p:extLst>
          </p:nvPr>
        </p:nvGraphicFramePr>
        <p:xfrm>
          <a:off x="5142570" y="1759160"/>
          <a:ext cx="2057400" cy="35052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520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</a:rPr>
                        <a:t>PHIEUDANGKY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1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itchFamily="34" charset="0"/>
                        </a:rPr>
                        <a:t>MaSV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0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itchFamily="34" charset="0"/>
                        </a:rPr>
                        <a:t>MaMonHoc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1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HocKy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1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NamHoc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0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Diem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67">
            <a:extLst>
              <a:ext uri="{FF2B5EF4-FFF2-40B4-BE49-F238E27FC236}">
                <a16:creationId xmlns:a16="http://schemas.microsoft.com/office/drawing/2014/main" id="{B92BC747-5114-852E-9159-F4260CA5D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74434"/>
              </p:ext>
            </p:extLst>
          </p:nvPr>
        </p:nvGraphicFramePr>
        <p:xfrm>
          <a:off x="2094570" y="1695660"/>
          <a:ext cx="2057400" cy="40941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51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</a:rPr>
                        <a:t>SINHVIEN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1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itchFamily="34" charset="0"/>
                        </a:rPr>
                        <a:t>MaSV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TenSV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NgaySinh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GioiTinh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QueQuan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Email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Group 36">
            <a:extLst>
              <a:ext uri="{FF2B5EF4-FFF2-40B4-BE49-F238E27FC236}">
                <a16:creationId xmlns:a16="http://schemas.microsoft.com/office/drawing/2014/main" id="{C28DEC30-0A78-38F6-0B4C-F55D4461D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501475"/>
              </p:ext>
            </p:extLst>
          </p:nvPr>
        </p:nvGraphicFramePr>
        <p:xfrm>
          <a:off x="8114370" y="1949660"/>
          <a:ext cx="2057400" cy="1754187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54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</a:rPr>
                        <a:t>MONHOC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38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itchFamily="34" charset="0"/>
                        </a:rPr>
                        <a:t>MaMonHoc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TenMonHoc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Line 73">
            <a:extLst>
              <a:ext uri="{FF2B5EF4-FFF2-40B4-BE49-F238E27FC236}">
                <a16:creationId xmlns:a16="http://schemas.microsoft.com/office/drawing/2014/main" id="{97101D3A-E0B5-0C69-406F-FB8E5803AC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970" y="274976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</a:bodyPr>
          <a:lstStyle/>
          <a:p>
            <a:endParaRPr lang="en-US"/>
          </a:p>
        </p:txBody>
      </p:sp>
      <p:sp>
        <p:nvSpPr>
          <p:cNvPr id="10" name="Line 74">
            <a:extLst>
              <a:ext uri="{FF2B5EF4-FFF2-40B4-BE49-F238E27FC236}">
                <a16:creationId xmlns:a16="http://schemas.microsoft.com/office/drawing/2014/main" id="{BB4A3386-4A08-6B02-5C1A-CD62876057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9970" y="2825960"/>
            <a:ext cx="9144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0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4800">
                <a:latin typeface="Times New Roman" panose="02020603050405020304" pitchFamily="18" charset="0"/>
              </a:rPr>
              <a:t>Lưu ý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10</a:t>
            </a:fld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74259-9BAE-92D1-69E9-768C5E882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173" y="1111161"/>
            <a:ext cx="10579654" cy="4943139"/>
          </a:xfrm>
        </p:spPr>
        <p:txBody>
          <a:bodyPr>
            <a:noAutofit/>
          </a:bodyPr>
          <a:lstStyle/>
          <a:p>
            <a:pPr marL="346075" indent="-346075" algn="just"/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Tên Table: </a:t>
            </a:r>
            <a:r>
              <a:rPr lang="en-US" altLang="en-US" sz="2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 bằng chữ IN tất cả các ký </a:t>
            </a:r>
            <a:r>
              <a:rPr lang="en-US" altLang="en-US" sz="26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tự, </a:t>
            </a:r>
            <a:r>
              <a:rPr lang="en-US" altLang="en-US" sz="2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dấu, không có khoảng cách giữa các từ.</a:t>
            </a:r>
          </a:p>
          <a:p>
            <a:pPr marL="0" indent="346075" algn="just">
              <a:buNone/>
            </a:pP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NHANVIEN, KHACHHANG, …</a:t>
            </a:r>
          </a:p>
          <a:p>
            <a:pPr marL="346075" indent="-346075" algn="just"/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Tên thuộc tính: </a:t>
            </a:r>
            <a:r>
              <a:rPr lang="en-US" altLang="en-US" sz="2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 bằng chữ IN ký tự đầu của mỗi từ,</a:t>
            </a:r>
            <a:r>
              <a:rPr lang="en-US" altLang="en-US" sz="26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dấu, không có khoảng cách giữa các từ.</a:t>
            </a:r>
          </a:p>
          <a:p>
            <a:pPr marL="0" indent="346075" algn="just">
              <a:buNone/>
            </a:pP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 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HoTen, NgaySinh, DiaChi, …</a:t>
            </a:r>
          </a:p>
          <a:p>
            <a:pPr marL="346075" indent="-346075" algn="just"/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Đặt tên table/tên thuộc tính súc tích, cô đọng và nhất quán trong toàn bộ CSDL.</a:t>
            </a:r>
          </a:p>
          <a:p>
            <a:pPr marL="0" indent="346075" algn="just">
              <a:buNone/>
            </a:pP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r>
              <a:rPr lang="en-US" altLang="en-US" sz="2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HOSODAILY   -&gt; DAILY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D9C815D1-A1F4-8A84-399B-6331E643C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8849" y="5904682"/>
            <a:ext cx="2075521" cy="5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endParaRPr lang="en-US">
              <a:ln>
                <a:solidFill>
                  <a:schemeClr val="tx1"/>
                </a:solidFill>
              </a:ln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640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III. Xác định Khoá chính</a:t>
            </a:r>
            <a:endParaRPr lang="en-V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98" y="1311881"/>
            <a:ext cx="10579654" cy="49431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Tính chất của Khoá chính: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Tối thiểu</a:t>
            </a:r>
          </a:p>
          <a:p>
            <a:pPr marL="914400" lvl="1" indent="-45720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</a:p>
          <a:p>
            <a:pPr marL="914400" lvl="1" indent="-45720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Không trùng lắp</a:t>
            </a:r>
          </a:p>
          <a:p>
            <a:pPr marL="914400" lvl="1" indent="-45720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Không thay đổi theo thời gian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11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779746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III. Xác định Khoá chính (tt)</a:t>
            </a:r>
            <a:endParaRPr lang="en-V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97" y="1311881"/>
            <a:ext cx="10778519" cy="49431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</a:pPr>
            <a:r>
              <a:rPr lang="en-US" altLang="en-US" sz="2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 trừu tượng: </a:t>
            </a:r>
          </a:p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Là thuộc tính không xuất hiện trong thế giới thực, chỉ có trong phần mềm.</a:t>
            </a:r>
          </a:p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</a:pP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 dụng thuộc tính trừu tượng để làm khoá chính cho table.</a:t>
            </a:r>
          </a:p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Ví dụ: MaDaiLy, MaLoaiDaiLy, …</a:t>
            </a:r>
            <a:endParaRPr lang="en-US" altLang="en-US" sz="280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218055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III. Xác định Khoá chính (tt)</a:t>
            </a:r>
            <a:endParaRPr lang="en-V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10E8-566B-6F80-CE23-1B5B077F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55" y="1311881"/>
            <a:ext cx="11095462" cy="49431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None/>
              <a:defRPr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Khi nào cần sử dụng thuộc tính trừu tượng?</a:t>
            </a:r>
          </a:p>
          <a:p>
            <a:pPr lvl="1" indent="-33972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Khi từ danh sách các thuộc tính đã có của table, </a:t>
            </a:r>
            <a:r>
              <a:rPr lang="en-US" altLang="en-US" sz="28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chọn được thuộc tính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(hoặc tổ hợp thuộc tính)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nào thoả các tính chất của khóa chính.</a:t>
            </a:r>
            <a:endParaRPr lang="en-US" altLang="en-US" sz="280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3972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Khi khoá chính là một </a:t>
            </a:r>
            <a:r>
              <a:rPr lang="en-US" altLang="en-US" sz="28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 hợp có từ hai thuộc tính trở lên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692150" lvl="1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None/>
              <a:defRPr/>
            </a:pP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Lưu ý trong trường hợp này vẫn phải kiểm tra dữ liệu trùng trên bộ thuộc tính có thể tham gia làm khoá chính (khi insert hoặc update dữ liệu cho table).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13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233019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III. Xác định Khoá chính 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14</a:t>
            </a:fld>
            <a:endParaRPr lang="en-V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05CFC0-9D86-83D9-1CD7-3D07F1131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722" y="1304340"/>
            <a:ext cx="7924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65138" indent="-465138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buFont typeface="Wingdings" panose="05000000000000000000" pitchFamily="2" charset="2"/>
              <a:buNone/>
            </a:pPr>
            <a:endParaRPr lang="en-US" altLang="en-US" sz="2400" b="1">
              <a:solidFill>
                <a:srgbClr val="FF3300"/>
              </a:solidFill>
            </a:endParaRPr>
          </a:p>
        </p:txBody>
      </p:sp>
      <p:graphicFrame>
        <p:nvGraphicFramePr>
          <p:cNvPr id="9" name="Group 67">
            <a:extLst>
              <a:ext uri="{FF2B5EF4-FFF2-40B4-BE49-F238E27FC236}">
                <a16:creationId xmlns:a16="http://schemas.microsoft.com/office/drawing/2014/main" id="{F4FA764E-A7B1-23C0-723A-EE51DDC9C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252081"/>
              </p:ext>
            </p:extLst>
          </p:nvPr>
        </p:nvGraphicFramePr>
        <p:xfrm>
          <a:off x="1953322" y="1380540"/>
          <a:ext cx="2743200" cy="4800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</a:rPr>
                        <a:t>DAILY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itchFamily="34" charset="0"/>
                        </a:rPr>
                        <a:t>MaDaiLy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MaLoaiDaiLy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TenDaiLy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DiaChi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DienThoai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Email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Group 69">
            <a:extLst>
              <a:ext uri="{FF2B5EF4-FFF2-40B4-BE49-F238E27FC236}">
                <a16:creationId xmlns:a16="http://schemas.microsoft.com/office/drawing/2014/main" id="{9BA1A2F4-8064-AE87-26C1-9E07F4254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931872"/>
              </p:ext>
            </p:extLst>
          </p:nvPr>
        </p:nvGraphicFramePr>
        <p:xfrm>
          <a:off x="6601522" y="1380540"/>
          <a:ext cx="2743200" cy="2057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</a:rPr>
                        <a:t>LOAIDAILY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itchFamily="34" charset="0"/>
                        </a:rPr>
                        <a:t>MaLoaiDaiLy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TenLoaiDaiLy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Line 68">
            <a:extLst>
              <a:ext uri="{FF2B5EF4-FFF2-40B4-BE49-F238E27FC236}">
                <a16:creationId xmlns:a16="http://schemas.microsoft.com/office/drawing/2014/main" id="{CD9A64D6-FFD9-9F96-0684-D39CC2EE1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6522" y="168534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2" name="Text Box 70">
            <a:extLst>
              <a:ext uri="{FF2B5EF4-FFF2-40B4-BE49-F238E27FC236}">
                <a16:creationId xmlns:a16="http://schemas.microsoft.com/office/drawing/2014/main" id="{5FF8E839-40CA-84D6-88F2-2C4229CD3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872" y="4123740"/>
            <a:ext cx="4921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400" b="1">
                <a:solidFill>
                  <a:schemeClr val="accent1"/>
                </a:solidFill>
              </a:rPr>
              <a:t>Gạch dưới thuộc tính làm khóa chính</a:t>
            </a:r>
          </a:p>
        </p:txBody>
      </p:sp>
      <p:sp>
        <p:nvSpPr>
          <p:cNvPr id="13" name="Line 72">
            <a:extLst>
              <a:ext uri="{FF2B5EF4-FFF2-40B4-BE49-F238E27FC236}">
                <a16:creationId xmlns:a16="http://schemas.microsoft.com/office/drawing/2014/main" id="{94913A1B-20CC-482A-6AAE-9D76CF37C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6922" y="2447340"/>
            <a:ext cx="1600200" cy="1600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4" name="Line 73">
            <a:extLst>
              <a:ext uri="{FF2B5EF4-FFF2-40B4-BE49-F238E27FC236}">
                <a16:creationId xmlns:a16="http://schemas.microsoft.com/office/drawing/2014/main" id="{36255259-6607-B7E1-BE0D-25B32C173C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4322" y="2523540"/>
            <a:ext cx="762000" cy="1524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3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III. Xác định Khoá chính 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15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5" y="1423395"/>
            <a:ext cx="10579654" cy="4943139"/>
          </a:xfrm>
        </p:spPr>
        <p:txBody>
          <a:bodyPr>
            <a:noAutofit/>
          </a:bodyPr>
          <a:lstStyle/>
          <a:p>
            <a:pPr marL="346075" indent="-34607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kiểu dữ liệu cho thuộc tính khóa: </a:t>
            </a:r>
          </a:p>
          <a:p>
            <a:pPr marL="346075" lvl="1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+ Cân nhắc lựa chọn giữa kiểu số và kiểu chuỗi.</a:t>
            </a:r>
          </a:p>
          <a:p>
            <a:pPr marL="346075" lvl="1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+ Sử dụng tối ưu chiều dài của mã đồng thời phải xem xét khả năng mở rộng.</a:t>
            </a:r>
          </a:p>
          <a:p>
            <a:pPr marL="346075" indent="-34607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Khi tạo giá trị cho khoá chính, </a:t>
            </a: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không nên dùng lại một mã đã sử dụng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cho dù đối tượng có mã đó đã bị xóa.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endParaRPr lang="en-US" altLang="en-US" sz="28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938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IV. Các kiểu mã hóa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16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5" y="1423395"/>
            <a:ext cx="10579654" cy="4943139"/>
          </a:xfrm>
        </p:spPr>
        <p:txBody>
          <a:bodyPr>
            <a:noAutofit/>
          </a:bodyPr>
          <a:lstStyle/>
          <a:p>
            <a:pPr marL="803275" lvl="1" indent="-346075"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Mã hóa liên tiếp: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1,2,3…</a:t>
            </a:r>
          </a:p>
          <a:p>
            <a:pPr marL="803275" lvl="1" indent="-346075"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Mã hóa theo lát: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dùng từng lát cho từng nhóm đối tượng, trong mỗi lát thường dùng kiểu mã hóa liên tiếp.</a:t>
            </a:r>
          </a:p>
          <a:p>
            <a:pPr marL="803275" lvl="1" indent="-346075"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Mã hóa phân đoạn: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mã được phân thành nhiều đoạn, mỗi đoạn mang một ý nghĩa riêng.</a:t>
            </a:r>
          </a:p>
        </p:txBody>
      </p:sp>
    </p:spTree>
    <p:extLst>
      <p:ext uri="{BB962C8B-B14F-4D97-AF65-F5344CB8AC3E}">
        <p14:creationId xmlns:p14="http://schemas.microsoft.com/office/powerpoint/2010/main" val="207175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IV. Các kiểu mã hóa 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17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5" y="1423395"/>
            <a:ext cx="10579654" cy="4943139"/>
          </a:xfrm>
        </p:spPr>
        <p:txBody>
          <a:bodyPr>
            <a:noAutofit/>
          </a:bodyPr>
          <a:lstStyle/>
          <a:p>
            <a:pPr marL="803275" lvl="1" indent="-346075"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Mã hóa phân cấp: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là mã hóa phân đoạn, mỗi đoạn trỏ đến một tập hợp các đối tượng và các đối tượng này được phân cấp theo thứ tự từ trái qua phải.</a:t>
            </a:r>
          </a:p>
          <a:p>
            <a:pPr marL="803275" lvl="1" indent="-346075"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Mã hóa diễn nghĩa: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gán một tên ngắn gọn nhưng hiểu được cho từng đối tượng.</a:t>
            </a:r>
          </a:p>
          <a:p>
            <a:pPr marL="803275" lvl="1" indent="0" algn="just"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Ví dụ: HAN (Hà Nội), HCM (Hồ Chí Minh)…</a:t>
            </a:r>
          </a:p>
          <a:p>
            <a:pPr marL="457200" lvl="1" indent="0" algn="just"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297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V. Bảng THAMSO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18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4" y="1423395"/>
            <a:ext cx="10711611" cy="4943139"/>
          </a:xfrm>
        </p:spPr>
        <p:txBody>
          <a:bodyPr>
            <a:noAutofit/>
          </a:bodyPr>
          <a:lstStyle/>
          <a:p>
            <a:pPr marL="346075" indent="-34607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Chức năng: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dùng để lưu các giá trị trong các qui định mà các giá trị này 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liên quan đến bất kỳ đối tượng dữ liệu nào khác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trong CSDL. </a:t>
            </a:r>
          </a:p>
          <a:p>
            <a:pPr marL="346075" indent="-34607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Các giá trị này được dùng trong các </a:t>
            </a:r>
            <a:r>
              <a:rPr lang="en-US" altLang="en-US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tính toán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 </a:t>
            </a:r>
            <a:r>
              <a:rPr lang="en-US" altLang="en-US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tra.</a:t>
            </a:r>
          </a:p>
          <a:p>
            <a:pPr marL="346075" indent="-346075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Trên table THAMSO chỉ hỗ trợ cho người dùng cuối 2 thao tác </a:t>
            </a:r>
            <a:r>
              <a:rPr lang="en-US" altLang="en-US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và update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không cho phép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và delete</a:t>
            </a: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sau khi đã hoàn tất việc thiết kế.</a:t>
            </a:r>
          </a:p>
          <a:p>
            <a:pPr marL="0" indent="0" algn="just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None/>
            </a:pP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33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V. Bảng THAMSO 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19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4" y="1423395"/>
            <a:ext cx="10711611" cy="49431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của bảng THAMSO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 1: THAMSO(</a:t>
            </a:r>
            <a:r>
              <a:rPr lang="en-US" altLang="en-US" sz="28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TenThamSo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,GiaTri)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Các tham số là các record của table THAMSO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Qui đổi giá trị của tham số có kiểu Boolean về kiểu số: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True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 1; False  0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 Đặt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các </a:t>
            </a:r>
            <a:r>
              <a:rPr lang="en-US" altLang="ja-JP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 số theo qui định về cách đặt tên thuộc tính.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800" b="1" i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73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V. Bảng THAMSO 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20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4" y="1423395"/>
            <a:ext cx="10711611" cy="49431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của bảng THAMSO (tt)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 2: 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THAMSO(ThamSo1,ThamSo2,…,ThamSoX)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Các tham số là các thuộc tính của table THAMSO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Mỗi thuộc tính có kiểu dữ liệu riêng, vì vậy không phải qui đổi giá trị của tham số có kiểu Boolean về kiểu số.</a:t>
            </a:r>
          </a:p>
          <a:p>
            <a:pPr marL="0" indent="0" algn="just">
              <a:lnSpc>
                <a:spcPct val="130000"/>
              </a:lnSpc>
              <a:buClr>
                <a:schemeClr val="accent1"/>
              </a:buClr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800" b="1" i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152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VI. Thuật toán thiết kế dữ liệu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21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26635"/>
            <a:ext cx="11224568" cy="5072993"/>
          </a:xfrm>
        </p:spPr>
        <p:txBody>
          <a:bodyPr>
            <a:noAutofit/>
          </a:bodyPr>
          <a:lstStyle/>
          <a:p>
            <a:pPr marL="0" indent="0" algn="just">
              <a:buClr>
                <a:schemeClr val="accent1"/>
              </a:buClr>
              <a:buNone/>
            </a:pPr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thực hiện:</a:t>
            </a:r>
          </a:p>
          <a:p>
            <a:pPr marL="457200" lvl="1" indent="-457200" algn="just">
              <a:buClr>
                <a:schemeClr val="accent1"/>
              </a:buClr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Bước 1: Xét yêu cầu phần mềm thứ I</a:t>
            </a:r>
          </a:p>
          <a:p>
            <a:pPr marL="692150" lvl="2" indent="-346075"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với tính đúng đắn </a:t>
            </a:r>
          </a:p>
          <a:p>
            <a:pPr marL="692150" lvl="2" indent="-346075"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với tính tiến hóa</a:t>
            </a:r>
          </a:p>
          <a:p>
            <a:pPr marL="457200" lvl="1" indent="-457200" algn="just">
              <a:buClr>
                <a:schemeClr val="accent1"/>
              </a:buClr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Bước 2: Xét yêu cầu phần mềm thứ II</a:t>
            </a:r>
          </a:p>
          <a:p>
            <a:pPr marL="457200" lvl="1" indent="-457200">
              <a:buClr>
                <a:schemeClr val="accent1"/>
              </a:buClr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457200" lvl="1" indent="-457200" algn="just">
              <a:buClr>
                <a:schemeClr val="accent1"/>
              </a:buClr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Bước n: Xét yêu cầu phần mềm cuối cùng</a:t>
            </a:r>
          </a:p>
          <a:p>
            <a:pPr marL="457200" lvl="1" indent="-457200">
              <a:buClr>
                <a:schemeClr val="accent1"/>
              </a:buClr>
              <a:buNone/>
            </a:pP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dựa vào sơ đồ luồng dữ liệu của yêu cầu phần mềm đang xét. </a:t>
            </a:r>
          </a:p>
          <a:p>
            <a:pPr marL="457200" lvl="1" indent="-457200" algn="just">
              <a:buClr>
                <a:schemeClr val="accent1"/>
              </a:buClr>
              <a:buNone/>
            </a:pP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Clr>
                <a:schemeClr val="accent1"/>
              </a:buClr>
              <a:buNone/>
            </a:pP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1"/>
              </a:buClr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01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VI. Thuật toán thiết kế dữ liệu 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22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26635"/>
            <a:ext cx="11224568" cy="5072993"/>
          </a:xfrm>
        </p:spPr>
        <p:txBody>
          <a:bodyPr>
            <a:noAutofit/>
          </a:bodyPr>
          <a:lstStyle/>
          <a:p>
            <a:pPr marL="568325" lvl="2" indent="-401638" algn="just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tabLst>
                <a:tab pos="234950" algn="l"/>
              </a:tabLst>
              <a:defRPr/>
            </a:pPr>
            <a:r>
              <a:rPr lang="en-US" altLang="en-US" sz="2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với tính đúng đắn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68325" lvl="2" indent="0" algn="just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  <a:tabLst>
                <a:tab pos="346075" algn="l"/>
              </a:tabLs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 mẫu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liên quan: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BMx</a:t>
            </a:r>
          </a:p>
          <a:p>
            <a:pPr marL="568325" lvl="2" indent="0" algn="just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  <a:tabLst>
                <a:tab pos="346075" algn="l"/>
              </a:tabLs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Sơ đồ luồng dữ liệu: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SĐx</a:t>
            </a:r>
          </a:p>
          <a:p>
            <a:pPr marL="568325" lvl="2" indent="0" algn="just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  <a:tabLst>
                <a:tab pos="346075" algn="l"/>
              </a:tabLs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thuộc tính mới:</a:t>
            </a:r>
          </a:p>
          <a:p>
            <a:pPr marL="568325" lvl="2" indent="0" algn="just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  <a:tabLst>
                <a:tab pos="346075" algn="l"/>
              </a:tabLs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</a:t>
            </a: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lần lượt bố trí các </a:t>
            </a:r>
            <a:r>
              <a:rPr lang="en-US" altLang="en-US" sz="28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 mới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vào các bảng đã có, trong trường hợp không bố trí được thì phải </a:t>
            </a:r>
            <a:r>
              <a:rPr lang="en-US" altLang="en-US" sz="28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bảng mới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để chứa các thuộc tính mới này.</a:t>
            </a:r>
          </a:p>
          <a:p>
            <a:pPr marL="568325" lvl="2" indent="0" algn="just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  <a:tabLst>
                <a:tab pos="346075" algn="l"/>
              </a:tabLs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thuộc tính trừu tượng: </a:t>
            </a:r>
          </a:p>
          <a:p>
            <a:pPr marL="568325" lvl="2" indent="0" algn="just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  <a:tabLst>
                <a:tab pos="346075" algn="l"/>
              </a:tabLst>
              <a:defRPr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Sơ đồ Logic </a:t>
            </a:r>
          </a:p>
        </p:txBody>
      </p:sp>
    </p:spTree>
    <p:extLst>
      <p:ext uri="{BB962C8B-B14F-4D97-AF65-F5344CB8AC3E}">
        <p14:creationId xmlns:p14="http://schemas.microsoft.com/office/powerpoint/2010/main" val="2627721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800">
                <a:latin typeface="Times New Roman" panose="02020603050405020304" pitchFamily="18" charset="0"/>
              </a:rPr>
              <a:t>VI. Thuật toán thiết kế dữ liệu (tt)</a:t>
            </a:r>
            <a:endParaRPr lang="en-VN" sz="4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23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26635"/>
            <a:ext cx="11224568" cy="5072993"/>
          </a:xfrm>
        </p:spPr>
        <p:txBody>
          <a:bodyPr>
            <a:noAutofit/>
          </a:bodyPr>
          <a:lstStyle/>
          <a:p>
            <a:pPr marL="568325" lvl="2" indent="-401638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 với tính tiến hóa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68325" lvl="2" indent="0" algn="just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 định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 liên quan: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QĐx</a:t>
            </a:r>
          </a:p>
          <a:p>
            <a:pPr marL="568325" lvl="2" indent="0" algn="just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Sơ đồ luồng dữ liệu </a:t>
            </a:r>
            <a:r>
              <a:rPr lang="en-US" altLang="en-US" sz="2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 việc thay đổi qui định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SĐy</a:t>
            </a:r>
          </a:p>
          <a:p>
            <a:pPr marL="568325" lvl="2" indent="0" algn="just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thuộc tính mới:</a:t>
            </a:r>
          </a:p>
          <a:p>
            <a:pPr marL="568325" lvl="2" indent="0" algn="just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en-US" sz="2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tham số mới: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568325" lvl="2" indent="0" algn="just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dữ liệu: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lần lượt </a:t>
            </a:r>
            <a:r>
              <a:rPr lang="en-US" altLang="en-US" sz="2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 trí các </a:t>
            </a:r>
            <a:r>
              <a:rPr lang="en-US" altLang="en-US" sz="26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 mới và các tham số mới</a:t>
            </a:r>
            <a:r>
              <a:rPr lang="en-US" altLang="en-US" sz="2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vào các bảng đã có, trong trường hợp không bố trí được thì phải </a:t>
            </a:r>
            <a:r>
              <a:rPr lang="en-US" altLang="en-US" sz="26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bảng mới</a:t>
            </a:r>
            <a:r>
              <a:rPr lang="en-US" altLang="en-US" sz="2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để chứa các thuộc tính mới và các tham số mới này.</a:t>
            </a:r>
          </a:p>
          <a:p>
            <a:pPr marL="568325" lvl="2" indent="0" algn="just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thuộc tính trừu tượng: </a:t>
            </a:r>
          </a:p>
          <a:p>
            <a:pPr marL="568325" lvl="2" indent="0" algn="just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alt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Sơ đồ Logic</a:t>
            </a:r>
          </a:p>
        </p:txBody>
      </p:sp>
    </p:spTree>
    <p:extLst>
      <p:ext uri="{BB962C8B-B14F-4D97-AF65-F5344CB8AC3E}">
        <p14:creationId xmlns:p14="http://schemas.microsoft.com/office/powerpoint/2010/main" val="1576813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46" y="413535"/>
            <a:ext cx="10579655" cy="7858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>
                <a:latin typeface="Times New Roman" panose="02020603050405020304" pitchFamily="18" charset="0"/>
              </a:rPr>
              <a:t>Thiết kế dữ liệu với yêu cầu hiệu quả về</a:t>
            </a:r>
            <a:br>
              <a:rPr lang="en-US" altLang="en-US" sz="4000">
                <a:latin typeface="Times New Roman" panose="02020603050405020304" pitchFamily="18" charset="0"/>
              </a:rPr>
            </a:br>
            <a:r>
              <a:rPr lang="en-US" altLang="en-US" sz="4000">
                <a:latin typeface="Times New Roman" panose="02020603050405020304" pitchFamily="18" charset="0"/>
              </a:rPr>
              <a:t>thời gian truy xuất và dung lượng lưu trữ</a:t>
            </a:r>
            <a:endParaRPr lang="en-VN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24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940312"/>
            <a:ext cx="10934634" cy="3925229"/>
          </a:xfrm>
        </p:spPr>
        <p:txBody>
          <a:bodyPr>
            <a:noAutofit/>
          </a:bodyPr>
          <a:lstStyle/>
          <a:p>
            <a:pPr marL="623888" lvl="2" indent="-388938" algn="l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Hiệu quả về thời gian truy xuất: </a:t>
            </a:r>
          </a:p>
          <a:p>
            <a:pPr marL="623888" lvl="2" indent="0" algn="l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Thêm vào các </a:t>
            </a:r>
            <a:r>
              <a:rPr lang="en-US" altLang="en-US" sz="28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 tính 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toán.</a:t>
            </a:r>
          </a:p>
          <a:p>
            <a:pPr marL="623888" lvl="2" indent="0" algn="l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 tính toán là thuộc tính mà giá trị của nó được tính toán dựa trên giá trị của các thuộc tính khác.</a:t>
            </a:r>
          </a:p>
          <a:p>
            <a:pPr marL="623888" lvl="2" indent="0" algn="l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giá trị của thuộc tính tính toán phải được </a:t>
            </a:r>
            <a:r>
              <a:rPr lang="en-US" altLang="en-US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 động cập nhật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khi có những thay đổi liên quan.</a:t>
            </a:r>
          </a:p>
          <a:p>
            <a:pPr marL="0" indent="0" algn="l">
              <a:buClr>
                <a:schemeClr val="accent1"/>
              </a:buClr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586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A7FF-4848-9979-506A-A80CBC57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46" y="413535"/>
            <a:ext cx="10579655" cy="7858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>
                <a:latin typeface="Times New Roman" panose="02020603050405020304" pitchFamily="18" charset="0"/>
              </a:rPr>
              <a:t>Thiết kế dữ liệu với yêu cầu hiệu quả về</a:t>
            </a:r>
            <a:br>
              <a:rPr lang="en-US" altLang="en-US" sz="4000">
                <a:latin typeface="Times New Roman" panose="02020603050405020304" pitchFamily="18" charset="0"/>
              </a:rPr>
            </a:br>
            <a:r>
              <a:rPr lang="en-US" altLang="en-US" sz="4000">
                <a:latin typeface="Times New Roman" panose="02020603050405020304" pitchFamily="18" charset="0"/>
              </a:rPr>
              <a:t>thời gian truy xuất và dung lượng lưu trữ (tt)</a:t>
            </a:r>
            <a:endParaRPr lang="en-VN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7703-6252-D4EA-45D6-781EDA08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E816-A783-72E2-228E-73FCA289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25</a:t>
            </a:fld>
            <a:endParaRPr lang="en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39F556-DFCC-5506-2E8A-AF3891A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022" y="1940312"/>
            <a:ext cx="11155793" cy="3925229"/>
          </a:xfrm>
        </p:spPr>
        <p:txBody>
          <a:bodyPr>
            <a:noAutofit/>
          </a:bodyPr>
          <a:lstStyle/>
          <a:p>
            <a:pPr marL="692150" lvl="2" indent="-4016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Hiệu quả về dung lượng lưu trữ: 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2150" lvl="2" inden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Tách bảng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có các giá trị cố định được lặp lại nhiều lần thành 2 bảng: một bảng chứa </a:t>
            </a:r>
            <a:r>
              <a:rPr lang="en-US" altLang="en-US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tổng quát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và một bảng chứa </a:t>
            </a:r>
            <a:r>
              <a:rPr lang="en-US" altLang="en-US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chi tiết.</a:t>
            </a:r>
            <a:endParaRPr lang="en-US" altLang="en-U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2150" lvl="2" inden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Thêm đối tượng mới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và sử dụng mã của đối tượng thay cho việc lưu trữ thông tin chi tiết về đối tượng.</a:t>
            </a:r>
          </a:p>
          <a:p>
            <a:pPr marL="0" indent="0">
              <a:buClr>
                <a:schemeClr val="accent1"/>
              </a:buClr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292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FE11F-4A56-C005-A5A9-79B2ABD1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71B7F-6B12-2820-842B-AA56DEC2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26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4C0462-38B0-EC2D-3E43-4DED36508AF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October 18, 2024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721E34F-CC3D-23CB-3B44-BE6DD533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5123"/>
            <a:ext cx="10515600" cy="5162360"/>
          </a:xfrm>
        </p:spPr>
        <p:txBody>
          <a:bodyPr>
            <a:normAutofit/>
          </a:bodyPr>
          <a:lstStyle/>
          <a:p>
            <a:pPr algn="ctr"/>
            <a:r>
              <a:rPr lang="en-US" altLang="en-US" sz="9600"/>
              <a:t>Q &amp; 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6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925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6E31-1764-C9BF-8776-B36B0399F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47" y="424402"/>
            <a:ext cx="9443225" cy="979200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>
                <a:latin typeface="Times New Roman" panose="02020603050405020304" pitchFamily="18" charset="0"/>
              </a:rPr>
              <a:t>Câu hỏi ôn tập</a:t>
            </a:r>
            <a:endParaRPr lang="en-VN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28C56-AEAE-71D5-8CE3-2C0810BBD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26" y="1605776"/>
            <a:ext cx="11068451" cy="4370465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Trình bày các yêu cầu trong thiết kế dữ liệu. </a:t>
            </a:r>
          </a:p>
          <a:p>
            <a:pPr marL="457200" indent="-4572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của việc thiết kế dữ liệu là gì? Hãy mô tả nó.</a:t>
            </a:r>
          </a:p>
          <a:p>
            <a:pPr marL="457200" indent="-4572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Trình bày các dạng quan hệ giữa table A và table B.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Hãy nêu và giải thích các tính chất của khoá chính.</a:t>
            </a:r>
          </a:p>
          <a:p>
            <a:pPr marL="457200" indent="-4572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Trình bày khái niệm và mục đích của việc sử dụng thuộc tính trừu tượng.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Trình bày khái niệm và mục đích của việc sử dụng thuộc tính tính toán.</a:t>
            </a:r>
          </a:p>
          <a:p>
            <a:pPr marL="457200" indent="-4572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Trình bày chức năng của bảng THAMSO.</a:t>
            </a:r>
          </a:p>
          <a:p>
            <a:pPr marL="457200" indent="-4572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Trình bày thuật toán thiết kế dữ liệu.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FE11F-4A56-C005-A5A9-79B2ABD1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71B7F-6B12-2820-842B-AA56DEC2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27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4C0462-38B0-EC2D-3E43-4DED36508AF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October 18,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93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925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4007</TotalTime>
  <Words>2062</Words>
  <Application>Microsoft Office PowerPoint</Application>
  <PresentationFormat>Widescreen</PresentationFormat>
  <Paragraphs>231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I. Thiết kế dữ liệu</vt:lpstr>
      <vt:lpstr>I. Thiết kế dữ liệu (tt)</vt:lpstr>
      <vt:lpstr>II. Sơ đồ Logic</vt:lpstr>
      <vt:lpstr>II. Sơ đồ Logic (tt)</vt:lpstr>
      <vt:lpstr>II. Sơ đồ Logic (tt)</vt:lpstr>
      <vt:lpstr>Ví dụ Quan hệ n-n</vt:lpstr>
      <vt:lpstr>Ví dụ Quan hệ n-n (tt)</vt:lpstr>
      <vt:lpstr>Lưu ý</vt:lpstr>
      <vt:lpstr>III. Xác định Khoá chính</vt:lpstr>
      <vt:lpstr>III. Xác định Khoá chính (tt)</vt:lpstr>
      <vt:lpstr>III. Xác định Khoá chính (tt)</vt:lpstr>
      <vt:lpstr>III. Xác định Khoá chính (tt)</vt:lpstr>
      <vt:lpstr>III. Xác định Khoá chính (tt)</vt:lpstr>
      <vt:lpstr>IV. Các kiểu mã hóa</vt:lpstr>
      <vt:lpstr>IV. Các kiểu mã hóa (tt)</vt:lpstr>
      <vt:lpstr>V. Bảng THAMSO</vt:lpstr>
      <vt:lpstr>V. Bảng THAMSO (tt)</vt:lpstr>
      <vt:lpstr>V. Bảng THAMSO (tt)</vt:lpstr>
      <vt:lpstr>VI. Thuật toán thiết kế dữ liệu</vt:lpstr>
      <vt:lpstr>VI. Thuật toán thiết kế dữ liệu (tt)</vt:lpstr>
      <vt:lpstr>VI. Thuật toán thiết kế dữ liệu (tt)</vt:lpstr>
      <vt:lpstr>Thiết kế dữ liệu với yêu cầu hiệu quả về thời gian truy xuất và dung lượng lưu trữ</vt:lpstr>
      <vt:lpstr>Thiết kế dữ liệu với yêu cầu hiệu quả về thời gian truy xuất và dung lượng lưu trữ (tt)</vt:lpstr>
      <vt:lpstr>Q &amp; A</vt:lpstr>
      <vt:lpstr>Câu hỏi ôn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Đỗ Thị Thanh Tuyền</cp:lastModifiedBy>
  <cp:revision>193</cp:revision>
  <dcterms:created xsi:type="dcterms:W3CDTF">2023-03-03T01:55:04Z</dcterms:created>
  <dcterms:modified xsi:type="dcterms:W3CDTF">2024-10-18T05:02:45Z</dcterms:modified>
</cp:coreProperties>
</file>